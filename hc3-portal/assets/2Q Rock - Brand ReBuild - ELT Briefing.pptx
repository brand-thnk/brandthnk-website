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4"/>
    <p:sldMasterId id="2147483671" r:id="rId5"/>
  </p:sldMasterIdLst>
  <p:notesMasterIdLst>
    <p:notesMasterId r:id="rId14"/>
  </p:notesMasterIdLst>
  <p:sldIdLst>
    <p:sldId id="283" r:id="rId6"/>
    <p:sldId id="261" r:id="rId7"/>
    <p:sldId id="292" r:id="rId8"/>
    <p:sldId id="293" r:id="rId9"/>
    <p:sldId id="294" r:id="rId10"/>
    <p:sldId id="295" r:id="rId11"/>
    <p:sldId id="296" r:id="rId12"/>
    <p:sldId id="291" r:id="rId13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747775"/>
          </p15:clr>
        </p15:guide>
        <p15:guide id="2" pos="2880">
          <p15:clr>
            <a:srgbClr val="747775"/>
          </p15:clr>
        </p15:guide>
        <p15:guide id="3" pos="442">
          <p15:clr>
            <a:srgbClr val="747775"/>
          </p15:clr>
        </p15:guide>
        <p15:guide id="4" orient="horz" pos="829">
          <p15:clr>
            <a:srgbClr val="747775"/>
          </p15:clr>
        </p15:guide>
        <p15:guide id="5" pos="543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B9A8A02-2B55-359C-0BBA-C27D046D9625}" name="Victoria Vancura-Rutland" initials="VV" userId="S::tvrutland@hc3.io::95203326-da2c-4eea-9558-8369319fee45" providerId="AD"/>
  <p188:author id="{EE702620-520D-BDEC-B559-2ACAF859D75F}" name="Andrew Fix" initials="" userId="S::afix@hc3.io::b2bcd84a-14ef-4c90-a678-b3f7de548bff" providerId="AD"/>
  <p188:author id="{87D2BF48-E096-83DC-F6D4-C5648F26D6B9}" name="Kristan Hill" initials="KH" userId="S::khill@hc3.io::7c3ebcc1-cc3a-470c-a4a2-5bbc73febda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ori VanCura-Rutland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A0D5"/>
    <a:srgbClr val="574D45"/>
    <a:srgbClr val="FEFAF8"/>
    <a:srgbClr val="4B90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91FCB3-B924-46C5-9309-989B66DA9552}" v="6" dt="2026-05-29T12:02:35.644"/>
  </p1510:revLst>
</p1510:revInfo>
</file>

<file path=ppt/tableStyles.xml><?xml version="1.0" encoding="utf-8"?>
<a:tblStyleLst xmlns:a="http://schemas.openxmlformats.org/drawingml/2006/main" def="{7ABDA869-E044-475C-AE7F-30E7C699F30A}">
  <a:tblStyle styleId="{7ABDA869-E044-475C-AE7F-30E7C699F3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826" y="106"/>
      </p:cViewPr>
      <p:guideLst>
        <p:guide orient="horz" pos="707"/>
        <p:guide pos="2880"/>
        <p:guide pos="442"/>
        <p:guide orient="horz" pos="829"/>
        <p:guide pos="5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4.fntdata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3.fntdata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an Hill" userId="S::khill@hc3.io::7c3ebcc1-cc3a-470c-a4a2-5bbc73febdae" providerId="AD" clId="Web-{594A0365-2201-F480-614A-33441138CA77}"/>
    <pc:docChg chg="modSld">
      <pc:chgData name="Kristan Hill" userId="S::khill@hc3.io::7c3ebcc1-cc3a-470c-a4a2-5bbc73febdae" providerId="AD" clId="Web-{594A0365-2201-F480-614A-33441138CA77}" dt="2026-05-28T02:15:51.209" v="12" actId="1076"/>
      <pc:docMkLst>
        <pc:docMk/>
      </pc:docMkLst>
      <pc:sldChg chg="modSp">
        <pc:chgData name="Kristan Hill" userId="S::khill@hc3.io::7c3ebcc1-cc3a-470c-a4a2-5bbc73febdae" providerId="AD" clId="Web-{594A0365-2201-F480-614A-33441138CA77}" dt="2026-05-28T02:15:51.209" v="12" actId="1076"/>
        <pc:sldMkLst>
          <pc:docMk/>
          <pc:sldMk cId="2708108421" sldId="296"/>
        </pc:sldMkLst>
        <pc:spChg chg="mod">
          <ac:chgData name="Kristan Hill" userId="S::khill@hc3.io::7c3ebcc1-cc3a-470c-a4a2-5bbc73febdae" providerId="AD" clId="Web-{594A0365-2201-F480-614A-33441138CA77}" dt="2026-05-28T02:15:43.381" v="9" actId="1076"/>
          <ac:spMkLst>
            <pc:docMk/>
            <pc:sldMk cId="2708108421" sldId="296"/>
            <ac:spMk id="4" creationId="{15B4A0AD-7AC4-9691-A8D3-118408A3A21E}"/>
          </ac:spMkLst>
        </pc:spChg>
        <pc:spChg chg="mod">
          <ac:chgData name="Kristan Hill" userId="S::khill@hc3.io::7c3ebcc1-cc3a-470c-a4a2-5bbc73febdae" providerId="AD" clId="Web-{594A0365-2201-F480-614A-33441138CA77}" dt="2026-05-28T02:15:48.475" v="11" actId="1076"/>
          <ac:spMkLst>
            <pc:docMk/>
            <pc:sldMk cId="2708108421" sldId="296"/>
            <ac:spMk id="7" creationId="{1604FAF8-919D-A297-0ACA-6E944523F39C}"/>
          </ac:spMkLst>
        </pc:spChg>
        <pc:spChg chg="mod">
          <ac:chgData name="Kristan Hill" userId="S::khill@hc3.io::7c3ebcc1-cc3a-470c-a4a2-5bbc73febdae" providerId="AD" clId="Web-{594A0365-2201-F480-614A-33441138CA77}" dt="2026-05-28T02:15:51.209" v="12" actId="1076"/>
          <ac:spMkLst>
            <pc:docMk/>
            <pc:sldMk cId="2708108421" sldId="296"/>
            <ac:spMk id="8" creationId="{5B37038B-0319-954B-255D-D1F768A2A29E}"/>
          </ac:spMkLst>
        </pc:spChg>
      </pc:sldChg>
    </pc:docChg>
  </pc:docChgLst>
  <pc:docChgLst>
    <pc:chgData name="Kristan Hill" userId="7c3ebcc1-cc3a-470c-a4a2-5bbc73febdae" providerId="ADAL" clId="{17761C94-B7DA-4677-A39E-322ABAC91265}"/>
    <pc:docChg chg="undo redo custSel delSld modSld">
      <pc:chgData name="Kristan Hill" userId="7c3ebcc1-cc3a-470c-a4a2-5bbc73febdae" providerId="ADAL" clId="{17761C94-B7DA-4677-A39E-322ABAC91265}" dt="2026-05-29T19:49:45.503" v="115" actId="20577"/>
      <pc:docMkLst>
        <pc:docMk/>
      </pc:docMkLst>
      <pc:sldChg chg="modSp mod">
        <pc:chgData name="Kristan Hill" userId="7c3ebcc1-cc3a-470c-a4a2-5bbc73febdae" providerId="ADAL" clId="{17761C94-B7DA-4677-A39E-322ABAC91265}" dt="2026-05-29T19:49:45.503" v="115" actId="20577"/>
        <pc:sldMkLst>
          <pc:docMk/>
          <pc:sldMk cId="0" sldId="261"/>
        </pc:sldMkLst>
        <pc:spChg chg="mod">
          <ac:chgData name="Kristan Hill" userId="7c3ebcc1-cc3a-470c-a4a2-5bbc73febdae" providerId="ADAL" clId="{17761C94-B7DA-4677-A39E-322ABAC91265}" dt="2026-05-29T19:49:45.503" v="115" actId="20577"/>
          <ac:spMkLst>
            <pc:docMk/>
            <pc:sldMk cId="0" sldId="261"/>
            <ac:spMk id="140" creationId="{00000000-0000-0000-0000-000000000000}"/>
          </ac:spMkLst>
        </pc:spChg>
      </pc:sldChg>
      <pc:sldChg chg="del">
        <pc:chgData name="Kristan Hill" userId="7c3ebcc1-cc3a-470c-a4a2-5bbc73febdae" providerId="ADAL" clId="{17761C94-B7DA-4677-A39E-322ABAC91265}" dt="2026-05-29T12:00:50.444" v="53" actId="47"/>
        <pc:sldMkLst>
          <pc:docMk/>
          <pc:sldMk cId="902258575" sldId="289"/>
        </pc:sldMkLst>
      </pc:sldChg>
      <pc:sldChg chg="del">
        <pc:chgData name="Kristan Hill" userId="7c3ebcc1-cc3a-470c-a4a2-5bbc73febdae" providerId="ADAL" clId="{17761C94-B7DA-4677-A39E-322ABAC91265}" dt="2026-05-29T12:00:50.444" v="53" actId="47"/>
        <pc:sldMkLst>
          <pc:docMk/>
          <pc:sldMk cId="3897488459" sldId="290"/>
        </pc:sldMkLst>
      </pc:sldChg>
      <pc:sldChg chg="modSp mod">
        <pc:chgData name="Kristan Hill" userId="7c3ebcc1-cc3a-470c-a4a2-5bbc73febdae" providerId="ADAL" clId="{17761C94-B7DA-4677-A39E-322ABAC91265}" dt="2026-05-29T12:08:17.889" v="114" actId="20577"/>
        <pc:sldMkLst>
          <pc:docMk/>
          <pc:sldMk cId="2601413655" sldId="291"/>
        </pc:sldMkLst>
        <pc:spChg chg="mod">
          <ac:chgData name="Kristan Hill" userId="7c3ebcc1-cc3a-470c-a4a2-5bbc73febdae" providerId="ADAL" clId="{17761C94-B7DA-4677-A39E-322ABAC91265}" dt="2026-05-29T12:08:17.889" v="114" actId="20577"/>
          <ac:spMkLst>
            <pc:docMk/>
            <pc:sldMk cId="2601413655" sldId="291"/>
            <ac:spMk id="140" creationId="{731F9561-ADF4-15D7-BEA9-F7E1C7071E3A}"/>
          </ac:spMkLst>
        </pc:spChg>
      </pc:sldChg>
      <pc:sldChg chg="modSp mod">
        <pc:chgData name="Kristan Hill" userId="7c3ebcc1-cc3a-470c-a4a2-5bbc73febdae" providerId="ADAL" clId="{17761C94-B7DA-4677-A39E-322ABAC91265}" dt="2026-05-29T12:06:53.756" v="91" actId="403"/>
        <pc:sldMkLst>
          <pc:docMk/>
          <pc:sldMk cId="1388062422" sldId="292"/>
        </pc:sldMkLst>
        <pc:spChg chg="mod">
          <ac:chgData name="Kristan Hill" userId="7c3ebcc1-cc3a-470c-a4a2-5bbc73febdae" providerId="ADAL" clId="{17761C94-B7DA-4677-A39E-322ABAC91265}" dt="2026-05-29T12:06:53.756" v="91" actId="403"/>
          <ac:spMkLst>
            <pc:docMk/>
            <pc:sldMk cId="1388062422" sldId="292"/>
            <ac:spMk id="140" creationId="{E6B43CF9-62D9-13FE-4EB7-C5BD54777B59}"/>
          </ac:spMkLst>
        </pc:spChg>
      </pc:sldChg>
      <pc:sldChg chg="modSp mod">
        <pc:chgData name="Kristan Hill" userId="7c3ebcc1-cc3a-470c-a4a2-5bbc73febdae" providerId="ADAL" clId="{17761C94-B7DA-4677-A39E-322ABAC91265}" dt="2026-05-29T12:07:09.709" v="93" actId="403"/>
        <pc:sldMkLst>
          <pc:docMk/>
          <pc:sldMk cId="1280654536" sldId="293"/>
        </pc:sldMkLst>
        <pc:graphicFrameChg chg="modGraphic">
          <ac:chgData name="Kristan Hill" userId="7c3ebcc1-cc3a-470c-a4a2-5bbc73febdae" providerId="ADAL" clId="{17761C94-B7DA-4677-A39E-322ABAC91265}" dt="2026-05-29T12:07:09.709" v="93" actId="403"/>
          <ac:graphicFrameMkLst>
            <pc:docMk/>
            <pc:sldMk cId="1280654536" sldId="293"/>
            <ac:graphicFrameMk id="4" creationId="{715A90D8-E23E-84DF-295E-1A371C8DFF07}"/>
          </ac:graphicFrameMkLst>
        </pc:graphicFrameChg>
      </pc:sldChg>
      <pc:sldChg chg="modSp mod">
        <pc:chgData name="Kristan Hill" userId="7c3ebcc1-cc3a-470c-a4a2-5bbc73febdae" providerId="ADAL" clId="{17761C94-B7DA-4677-A39E-322ABAC91265}" dt="2026-05-29T12:06:09.021" v="90" actId="403"/>
        <pc:sldMkLst>
          <pc:docMk/>
          <pc:sldMk cId="1394357772" sldId="294"/>
        </pc:sldMkLst>
        <pc:spChg chg="mod">
          <ac:chgData name="Kristan Hill" userId="7c3ebcc1-cc3a-470c-a4a2-5bbc73febdae" providerId="ADAL" clId="{17761C94-B7DA-4677-A39E-322ABAC91265}" dt="2026-05-29T12:06:09.021" v="90" actId="403"/>
          <ac:spMkLst>
            <pc:docMk/>
            <pc:sldMk cId="1394357772" sldId="294"/>
            <ac:spMk id="140" creationId="{EF7643D0-75DA-9A0B-0C0D-AD47B28E249F}"/>
          </ac:spMkLst>
        </pc:spChg>
      </pc:sldChg>
      <pc:sldChg chg="addSp delSp modSp mod">
        <pc:chgData name="Kristan Hill" userId="7c3ebcc1-cc3a-470c-a4a2-5bbc73febdae" providerId="ADAL" clId="{17761C94-B7DA-4677-A39E-322ABAC91265}" dt="2026-05-29T12:07:57.567" v="100" actId="1076"/>
        <pc:sldMkLst>
          <pc:docMk/>
          <pc:sldMk cId="2708108421" sldId="296"/>
        </pc:sldMkLst>
        <pc:spChg chg="mod">
          <ac:chgData name="Kristan Hill" userId="7c3ebcc1-cc3a-470c-a4a2-5bbc73febdae" providerId="ADAL" clId="{17761C94-B7DA-4677-A39E-322ABAC91265}" dt="2026-05-29T12:07:46.445" v="97" actId="1076"/>
          <ac:spMkLst>
            <pc:docMk/>
            <pc:sldMk cId="2708108421" sldId="296"/>
            <ac:spMk id="4" creationId="{15B4A0AD-7AC4-9691-A8D3-118408A3A21E}"/>
          </ac:spMkLst>
        </pc:spChg>
        <pc:spChg chg="mod">
          <ac:chgData name="Kristan Hill" userId="7c3ebcc1-cc3a-470c-a4a2-5bbc73febdae" providerId="ADAL" clId="{17761C94-B7DA-4677-A39E-322ABAC91265}" dt="2026-05-29T12:07:49.791" v="98" actId="1076"/>
          <ac:spMkLst>
            <pc:docMk/>
            <pc:sldMk cId="2708108421" sldId="296"/>
            <ac:spMk id="7" creationId="{1604FAF8-919D-A297-0ACA-6E944523F39C}"/>
          </ac:spMkLst>
        </pc:spChg>
        <pc:spChg chg="mod">
          <ac:chgData name="Kristan Hill" userId="7c3ebcc1-cc3a-470c-a4a2-5bbc73febdae" providerId="ADAL" clId="{17761C94-B7DA-4677-A39E-322ABAC91265}" dt="2026-05-29T12:07:57.567" v="100" actId="1076"/>
          <ac:spMkLst>
            <pc:docMk/>
            <pc:sldMk cId="2708108421" sldId="296"/>
            <ac:spMk id="8" creationId="{5B37038B-0319-954B-255D-D1F768A2A29E}"/>
          </ac:spMkLst>
        </pc:spChg>
        <pc:spChg chg="mod">
          <ac:chgData name="Kristan Hill" userId="7c3ebcc1-cc3a-470c-a4a2-5bbc73febdae" providerId="ADAL" clId="{17761C94-B7DA-4677-A39E-322ABAC91265}" dt="2026-05-29T12:07:43.686" v="96" actId="1076"/>
          <ac:spMkLst>
            <pc:docMk/>
            <pc:sldMk cId="2708108421" sldId="296"/>
            <ac:spMk id="9" creationId="{DB8A41BB-84E2-52CA-85F8-8CC7FD6714A4}"/>
          </ac:spMkLst>
        </pc:spChg>
        <pc:spChg chg="mod">
          <ac:chgData name="Kristan Hill" userId="7c3ebcc1-cc3a-470c-a4a2-5bbc73febdae" providerId="ADAL" clId="{17761C94-B7DA-4677-A39E-322ABAC91265}" dt="2026-05-28T18:29:55.164" v="7" actId="1076"/>
          <ac:spMkLst>
            <pc:docMk/>
            <pc:sldMk cId="2708108421" sldId="296"/>
            <ac:spMk id="140" creationId="{15902814-EC53-7381-57D5-0E42DF58F524}"/>
          </ac:spMkLst>
        </pc:spChg>
        <pc:picChg chg="add del">
          <ac:chgData name="Kristan Hill" userId="7c3ebcc1-cc3a-470c-a4a2-5bbc73febdae" providerId="ADAL" clId="{17761C94-B7DA-4677-A39E-322ABAC91265}" dt="2026-05-28T18:30:12.831" v="14" actId="478"/>
          <ac:picMkLst>
            <pc:docMk/>
            <pc:sldMk cId="2708108421" sldId="296"/>
            <ac:picMk id="2" creationId="{2683BCC1-5F06-1B6C-9BD7-B754DC04A7E3}"/>
          </ac:picMkLst>
        </pc:picChg>
        <pc:picChg chg="add del mod ord">
          <ac:chgData name="Kristan Hill" userId="7c3ebcc1-cc3a-470c-a4a2-5bbc73febdae" providerId="ADAL" clId="{17761C94-B7DA-4677-A39E-322ABAC91265}" dt="2026-05-29T12:07:31.595" v="94" actId="1076"/>
          <ac:picMkLst>
            <pc:docMk/>
            <pc:sldMk cId="2708108421" sldId="296"/>
            <ac:picMk id="6" creationId="{84ED3464-0E02-EE7D-A89E-90E068C5E6A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0ffdfa832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8" name="Google Shape;138;g3a0ffdfa832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11E70A9A-1B60-9ED2-54D6-A067DBD29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0ffdfa832_0_391:notes">
            <a:extLst>
              <a:ext uri="{FF2B5EF4-FFF2-40B4-BE49-F238E27FC236}">
                <a16:creationId xmlns:a16="http://schemas.microsoft.com/office/drawing/2014/main" id="{179A2D78-65ED-C47F-2CCA-F011C8D890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8" name="Google Shape;138;g3a0ffdfa832_0_391:notes">
            <a:extLst>
              <a:ext uri="{FF2B5EF4-FFF2-40B4-BE49-F238E27FC236}">
                <a16:creationId xmlns:a16="http://schemas.microsoft.com/office/drawing/2014/main" id="{FE9013FA-F84C-00DB-8C0A-356BE64A48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734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017B4358-5AE0-0088-EA45-768CB36DD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0ffdfa832_0_391:notes">
            <a:extLst>
              <a:ext uri="{FF2B5EF4-FFF2-40B4-BE49-F238E27FC236}">
                <a16:creationId xmlns:a16="http://schemas.microsoft.com/office/drawing/2014/main" id="{A9511488-2D7B-A527-BFEE-579B344EF9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8" name="Google Shape;138;g3a0ffdfa832_0_391:notes">
            <a:extLst>
              <a:ext uri="{FF2B5EF4-FFF2-40B4-BE49-F238E27FC236}">
                <a16:creationId xmlns:a16="http://schemas.microsoft.com/office/drawing/2014/main" id="{428ACD53-E88E-1235-1C7D-93A0EB9B83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6715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864E0CD1-0532-3C47-7759-5BD761120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0ffdfa832_0_391:notes">
            <a:extLst>
              <a:ext uri="{FF2B5EF4-FFF2-40B4-BE49-F238E27FC236}">
                <a16:creationId xmlns:a16="http://schemas.microsoft.com/office/drawing/2014/main" id="{0FF66A22-9A81-9042-154E-2131573A2F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8" name="Google Shape;138;g3a0ffdfa832_0_391:notes">
            <a:extLst>
              <a:ext uri="{FF2B5EF4-FFF2-40B4-BE49-F238E27FC236}">
                <a16:creationId xmlns:a16="http://schemas.microsoft.com/office/drawing/2014/main" id="{10AD9693-28B5-9957-0CB7-0E026D750C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9335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4F5AB87C-775E-9BA9-B7DB-F9927429F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0ffdfa832_0_391:notes">
            <a:extLst>
              <a:ext uri="{FF2B5EF4-FFF2-40B4-BE49-F238E27FC236}">
                <a16:creationId xmlns:a16="http://schemas.microsoft.com/office/drawing/2014/main" id="{44F32DCB-5899-6BE3-E922-E7830456F8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8" name="Google Shape;138;g3a0ffdfa832_0_391:notes">
            <a:extLst>
              <a:ext uri="{FF2B5EF4-FFF2-40B4-BE49-F238E27FC236}">
                <a16:creationId xmlns:a16="http://schemas.microsoft.com/office/drawing/2014/main" id="{98D30F5E-5915-1261-150D-8AFD208C5B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4454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197B185-2573-AF5A-7ECE-73B81EDC5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0ffdfa832_0_391:notes">
            <a:extLst>
              <a:ext uri="{FF2B5EF4-FFF2-40B4-BE49-F238E27FC236}">
                <a16:creationId xmlns:a16="http://schemas.microsoft.com/office/drawing/2014/main" id="{07A389AE-407D-6641-416F-1E7C16DB01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8" name="Google Shape;138;g3a0ffdfa832_0_391:notes">
            <a:extLst>
              <a:ext uri="{FF2B5EF4-FFF2-40B4-BE49-F238E27FC236}">
                <a16:creationId xmlns:a16="http://schemas.microsoft.com/office/drawing/2014/main" id="{871B6669-9F27-452A-F291-7AEE494309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7349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AE96B621-0AD6-CDB9-FB1A-7D18B456F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0ffdfa832_0_391:notes">
            <a:extLst>
              <a:ext uri="{FF2B5EF4-FFF2-40B4-BE49-F238E27FC236}">
                <a16:creationId xmlns:a16="http://schemas.microsoft.com/office/drawing/2014/main" id="{463115DF-3F17-243D-9237-C1414D5C04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8" name="Google Shape;138;g3a0ffdfa832_0_391:notes">
            <a:extLst>
              <a:ext uri="{FF2B5EF4-FFF2-40B4-BE49-F238E27FC236}">
                <a16:creationId xmlns:a16="http://schemas.microsoft.com/office/drawing/2014/main" id="{8412DE2C-9F75-A998-A850-414AD6CDC4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3117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AF8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rgbClr val="FFFAF8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415E3-89C8-2A08-F941-2EE4BE103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rgbClr val="002060"/>
                </a:solidFill>
                <a:latin typeface="Merriweather"/>
              </a:rPr>
              <a:t>ELT Briefing: Brand Rebuild</a:t>
            </a:r>
            <a:br>
              <a:rPr lang="en-US" b="1">
                <a:solidFill>
                  <a:srgbClr val="6EA0D5"/>
                </a:solidFill>
                <a:latin typeface="Merriweather"/>
              </a:rPr>
            </a:br>
            <a:br>
              <a:rPr lang="en-US" sz="1100" b="1">
                <a:solidFill>
                  <a:srgbClr val="6EA0D5"/>
                </a:solidFill>
                <a:latin typeface="Merriweather"/>
              </a:rPr>
            </a:br>
            <a:r>
              <a:rPr lang="en-US" sz="3100">
                <a:solidFill>
                  <a:srgbClr val="6EA0D5"/>
                </a:solidFill>
                <a:latin typeface="Merriweather"/>
              </a:rPr>
              <a:t>Messaging &amp; Positioning Strategy</a:t>
            </a:r>
            <a:endParaRPr lang="en-US">
              <a:solidFill>
                <a:srgbClr val="6EA0D5"/>
              </a:solidFill>
              <a:latin typeface="Merriweather"/>
            </a:endParaRPr>
          </a:p>
        </p:txBody>
      </p:sp>
      <p:pic>
        <p:nvPicPr>
          <p:cNvPr id="3" name="Google Shape;130;p28" title="HC3 Logo (Full).png">
            <a:extLst>
              <a:ext uri="{FF2B5EF4-FFF2-40B4-BE49-F238E27FC236}">
                <a16:creationId xmlns:a16="http://schemas.microsoft.com/office/drawing/2014/main" id="{4F99778E-83FB-C878-A061-14A0EAF79DB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0" y="4856400"/>
            <a:ext cx="640238" cy="166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5986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>
            <a:spLocks noGrp="1"/>
          </p:cNvSpPr>
          <p:nvPr>
            <p:ph type="body" idx="1"/>
          </p:nvPr>
        </p:nvSpPr>
        <p:spPr>
          <a:xfrm>
            <a:off x="674507" y="588282"/>
            <a:ext cx="7988400" cy="36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rgbClr val="574D45"/>
              </a:buClr>
              <a:buSzPts val="1400"/>
              <a:buNone/>
            </a:pPr>
            <a:r>
              <a:rPr lang="en" b="1" dirty="0">
                <a:solidFill>
                  <a:srgbClr val="002060"/>
                </a:solidFill>
                <a:latin typeface="Merriweather"/>
                <a:ea typeface="Merriweather"/>
                <a:cs typeface="Merriweather"/>
                <a:sym typeface="Merriweather"/>
              </a:rPr>
              <a:t>3 Types of Acquisitions: Why We Chose the Operator Path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rgbClr val="574D45"/>
              </a:buClr>
              <a:buSzPts val="1400"/>
              <a:buNone/>
            </a:pPr>
            <a:endParaRPr lang="en" sz="12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82600" lvl="0" algn="l" rtl="0">
              <a:spcBef>
                <a:spcPts val="0"/>
              </a:spcBef>
              <a:spcAft>
                <a:spcPts val="0"/>
              </a:spcAft>
              <a:buClr>
                <a:srgbClr val="6EA0D5"/>
              </a:buClr>
              <a:buSzPts val="1400"/>
              <a:buAutoNum type="arabicPeriod"/>
            </a:pPr>
            <a:r>
              <a:rPr lang="en" sz="1400" b="1" dirty="0">
                <a:solidFill>
                  <a:srgbClr val="6EA0D5"/>
                </a:solidFill>
                <a:latin typeface="Merriweather"/>
                <a:ea typeface="Merriweather"/>
                <a:cs typeface="Merriweather"/>
                <a:sym typeface="Merriweather"/>
              </a:rPr>
              <a:t>House of Brands</a:t>
            </a:r>
          </a:p>
          <a:p>
            <a:pPr marL="939800" lvl="1">
              <a:buClr>
                <a:srgbClr val="574D45"/>
              </a:buClr>
              <a:buFont typeface="Arial" panose="020B0604020202020204" pitchFamily="34" charset="0"/>
              <a:buChar char="•"/>
            </a:pPr>
            <a:r>
              <a:rPr lang="en" sz="1200" b="1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When to use: </a:t>
            </a:r>
            <a:r>
              <a:rPr lang="en" sz="1200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Acquisition with strong brand recognition</a:t>
            </a:r>
          </a:p>
          <a:p>
            <a:pPr marL="939800" lvl="1">
              <a:buClr>
                <a:srgbClr val="574D45"/>
              </a:buClr>
              <a:buFont typeface="Arial" panose="020B0604020202020204" pitchFamily="34" charset="0"/>
              <a:buChar char="•"/>
            </a:pPr>
            <a:r>
              <a:rPr lang="en" sz="1200" b="1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Why we didn’t: </a:t>
            </a:r>
            <a:r>
              <a:rPr lang="en" sz="1200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Doesn’t align with leadership’s vision</a:t>
            </a:r>
            <a:br>
              <a:rPr lang="en" sz="1200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lang="en" sz="12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82600" lvl="0" algn="l" rtl="0">
              <a:spcBef>
                <a:spcPts val="0"/>
              </a:spcBef>
              <a:spcAft>
                <a:spcPts val="0"/>
              </a:spcAft>
              <a:buClr>
                <a:srgbClr val="6EA0D5"/>
              </a:buClr>
              <a:buSzPts val="1400"/>
              <a:buAutoNum type="arabicPeriod"/>
            </a:pPr>
            <a:r>
              <a:rPr lang="en" sz="1400" b="1" dirty="0">
                <a:solidFill>
                  <a:srgbClr val="6EA0D5"/>
                </a:solidFill>
                <a:latin typeface="Merriweather"/>
                <a:ea typeface="Merriweather"/>
                <a:cs typeface="Merriweather"/>
                <a:sym typeface="Merriweather"/>
              </a:rPr>
              <a:t>Platform Strategy</a:t>
            </a:r>
          </a:p>
          <a:p>
            <a:pPr marL="939800" lvl="1">
              <a:buClr>
                <a:srgbClr val="574D45"/>
              </a:buClr>
              <a:buFont typeface="Arial" panose="020B0604020202020204" pitchFamily="34" charset="0"/>
              <a:buChar char="•"/>
            </a:pPr>
            <a:r>
              <a:rPr lang="en" sz="1200" b="1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When to use: </a:t>
            </a:r>
            <a:r>
              <a:rPr lang="en" sz="1200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End-to-end technology we can’t build in a reasonable time</a:t>
            </a:r>
          </a:p>
          <a:p>
            <a:pPr marL="939800" lvl="1">
              <a:buClr>
                <a:srgbClr val="574D45"/>
              </a:buClr>
              <a:buFont typeface="Arial" panose="020B0604020202020204" pitchFamily="34" charset="0"/>
              <a:buChar char="•"/>
            </a:pPr>
            <a:r>
              <a:rPr lang="en" sz="1200" b="1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Why we didn’t: </a:t>
            </a:r>
            <a:r>
              <a:rPr lang="en" sz="1200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Doesn’t align, requires decoupling all solutions so they can be purchased as modules</a:t>
            </a:r>
          </a:p>
          <a:p>
            <a:pPr marL="482600" lvl="0" algn="l" rtl="0">
              <a:spcBef>
                <a:spcPts val="0"/>
              </a:spcBef>
              <a:spcAft>
                <a:spcPts val="0"/>
              </a:spcAft>
              <a:buClr>
                <a:srgbClr val="574D45"/>
              </a:buClr>
              <a:buSzPts val="1400"/>
              <a:buAutoNum type="arabicPeriod"/>
            </a:pPr>
            <a:endParaRPr lang="en" sz="12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82600" lvl="0" algn="l" rtl="0">
              <a:spcBef>
                <a:spcPts val="0"/>
              </a:spcBef>
              <a:spcAft>
                <a:spcPts val="0"/>
              </a:spcAft>
              <a:buClr>
                <a:srgbClr val="6EA0D5"/>
              </a:buClr>
              <a:buSzPts val="1400"/>
              <a:buAutoNum type="arabicPeriod"/>
            </a:pPr>
            <a:r>
              <a:rPr lang="en" sz="1400" b="1" dirty="0">
                <a:solidFill>
                  <a:srgbClr val="6EA0D5"/>
                </a:solidFill>
                <a:latin typeface="Merriweather"/>
                <a:ea typeface="Merriweather"/>
                <a:cs typeface="Merriweather"/>
                <a:sym typeface="Merriweather"/>
              </a:rPr>
              <a:t>Micro-Solutions / “Sticky Note” Problems</a:t>
            </a:r>
          </a:p>
          <a:p>
            <a:pPr marL="939800" lvl="1">
              <a:buClr>
                <a:srgbClr val="574D45"/>
              </a:buClr>
              <a:buFont typeface="Arial" panose="020B0604020202020204" pitchFamily="34" charset="0"/>
              <a:buChar char="•"/>
            </a:pPr>
            <a:r>
              <a:rPr lang="en" sz="1200" b="1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When to use: </a:t>
            </a:r>
            <a:r>
              <a:rPr lang="en" sz="1200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Highly specialized companies that fill operational gaps</a:t>
            </a:r>
          </a:p>
          <a:p>
            <a:pPr marL="939800" lvl="1">
              <a:buClr>
                <a:srgbClr val="574D45"/>
              </a:buClr>
              <a:buFont typeface="Arial" panose="020B0604020202020204" pitchFamily="34" charset="0"/>
              <a:buChar char="•"/>
            </a:pPr>
            <a:r>
              <a:rPr lang="en" sz="1200" b="1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Why we did: </a:t>
            </a:r>
            <a:r>
              <a:rPr lang="en-US" sz="1200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Aligns with HC3’s operator mindset, keeps the brand capital we’ve built</a:t>
            </a:r>
            <a:endParaRPr lang="en" sz="12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82600">
              <a:buClr>
                <a:srgbClr val="574D45"/>
              </a:buClr>
              <a:buFont typeface="Arial" panose="020B0604020202020204" pitchFamily="34" charset="0"/>
              <a:buChar char="•"/>
            </a:pPr>
            <a:endParaRPr lang="en" sz="16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139700" indent="0">
              <a:buClr>
                <a:srgbClr val="574D45"/>
              </a:buClr>
              <a:buNone/>
            </a:pPr>
            <a:r>
              <a:rPr lang="en" sz="1200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Note: We’re not locked into one approach forever. </a:t>
            </a:r>
          </a:p>
          <a:p>
            <a:pPr marL="482600" lvl="0" algn="l" rtl="0">
              <a:spcBef>
                <a:spcPts val="0"/>
              </a:spcBef>
              <a:spcAft>
                <a:spcPts val="0"/>
              </a:spcAft>
              <a:buClr>
                <a:srgbClr val="574D45"/>
              </a:buClr>
              <a:buSzPts val="1400"/>
              <a:buAutoNum type="arabicPeriod"/>
            </a:pPr>
            <a:endParaRPr sz="12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" name="Google Shape;130;p28" title="HC3 Logo (Full).png">
            <a:extLst>
              <a:ext uri="{FF2B5EF4-FFF2-40B4-BE49-F238E27FC236}">
                <a16:creationId xmlns:a16="http://schemas.microsoft.com/office/drawing/2014/main" id="{2CFC55E7-1EF5-A97A-85B1-F69F5F7C37F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856400"/>
            <a:ext cx="640238" cy="166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4100D833-0911-499A-6B65-C8D1859DC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>
            <a:extLst>
              <a:ext uri="{FF2B5EF4-FFF2-40B4-BE49-F238E27FC236}">
                <a16:creationId xmlns:a16="http://schemas.microsoft.com/office/drawing/2014/main" id="{E6B43CF9-62D9-13FE-4EB7-C5BD54777B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4507" y="588282"/>
            <a:ext cx="7988400" cy="36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rgbClr val="574D45"/>
              </a:buClr>
              <a:buSzPts val="1400"/>
              <a:buNone/>
            </a:pPr>
            <a:r>
              <a:rPr lang="en" b="1" dirty="0">
                <a:solidFill>
                  <a:srgbClr val="002060"/>
                </a:solidFill>
                <a:latin typeface="Merriweather"/>
                <a:ea typeface="Merriweather"/>
                <a:cs typeface="Merriweather"/>
                <a:sym typeface="Merriweather"/>
              </a:rPr>
              <a:t>HC3 Brand Positioning Statement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rgbClr val="574D45"/>
              </a:buClr>
              <a:buSzPts val="1400"/>
              <a:buNone/>
            </a:pPr>
            <a:endParaRPr lang="en" sz="12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rgbClr val="6EA0D5"/>
              </a:buClr>
              <a:buSzPts val="1400"/>
              <a:buNone/>
            </a:pPr>
            <a:r>
              <a:rPr lang="en" sz="1600" b="1" dirty="0">
                <a:solidFill>
                  <a:srgbClr val="6EA0D5"/>
                </a:solidFill>
                <a:latin typeface="Merriweather"/>
                <a:ea typeface="Merriweather"/>
                <a:cs typeface="Merriweather"/>
                <a:sym typeface="Merriweather"/>
              </a:rPr>
              <a:t>Strategic Anchor</a:t>
            </a:r>
            <a:br>
              <a:rPr lang="en-US" sz="1200" b="1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lang="en-US" sz="1200" b="1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rgbClr val="6EA0D5"/>
              </a:buClr>
              <a:buSzPts val="1400"/>
              <a:buNone/>
            </a:pPr>
            <a:r>
              <a:rPr lang="en-US" sz="1400" b="1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For community banks and credit unions </a:t>
            </a:r>
            <a:r>
              <a:rPr lang="en-US" sz="1400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whose most operationally critical work is too important to get wrong:</a:t>
            </a:r>
          </a:p>
          <a:p>
            <a:pPr marL="114300" indent="0">
              <a:buNone/>
            </a:pPr>
            <a:endParaRPr lang="en-US" sz="1400" dirty="0">
              <a:solidFill>
                <a:srgbClr val="574D45"/>
              </a:solidFill>
              <a:latin typeface="Merriweather"/>
              <a:sym typeface="Merriweather"/>
            </a:endParaRPr>
          </a:p>
          <a:p>
            <a:pPr>
              <a:spcAft>
                <a:spcPts val="600"/>
              </a:spcAft>
              <a:buSzPct val="75000"/>
            </a:pPr>
            <a:r>
              <a:rPr lang="en-US" sz="1400" b="1" dirty="0">
                <a:solidFill>
                  <a:srgbClr val="574D45"/>
                </a:solidFill>
                <a:latin typeface="Merriweather"/>
                <a:sym typeface="Merriweather"/>
              </a:rPr>
              <a:t>HC3 is the operations partner </a:t>
            </a:r>
            <a:r>
              <a:rPr lang="en-US" sz="1400" dirty="0">
                <a:solidFill>
                  <a:srgbClr val="574D45"/>
                </a:solidFill>
                <a:latin typeface="Merriweather"/>
                <a:sym typeface="Merriweather"/>
              </a:rPr>
              <a:t>that runs as an extension of their own team.</a:t>
            </a:r>
          </a:p>
          <a:p>
            <a:pPr>
              <a:spcAft>
                <a:spcPts val="600"/>
              </a:spcAft>
              <a:buSzPct val="75000"/>
            </a:pPr>
            <a:r>
              <a:rPr lang="en-US" sz="1400" dirty="0">
                <a:solidFill>
                  <a:srgbClr val="574D45"/>
                </a:solidFill>
                <a:latin typeface="Merriweather"/>
                <a:sym typeface="Merriweather"/>
              </a:rPr>
              <a:t>We own statements completely, then extend into the adjacent notices, compliance, and data work community FIs </a:t>
            </a:r>
            <a:r>
              <a:rPr lang="en-US" sz="1400" dirty="0">
                <a:latin typeface="Merriweather" panose="00000500000000000000" pitchFamily="2" charset="0"/>
              </a:rPr>
              <a:t>don't have the bandwidth or expertise to perfect</a:t>
            </a:r>
            <a:r>
              <a:rPr lang="en-US" sz="1400" dirty="0">
                <a:solidFill>
                  <a:srgbClr val="574D45"/>
                </a:solidFill>
                <a:latin typeface="Merriweather"/>
                <a:sym typeface="Merriweather"/>
              </a:rPr>
              <a:t>.</a:t>
            </a:r>
          </a:p>
          <a:p>
            <a:pPr>
              <a:spcAft>
                <a:spcPts val="600"/>
              </a:spcAft>
              <a:buSzPct val="75000"/>
            </a:pPr>
            <a:r>
              <a:rPr lang="en-US" sz="1400" dirty="0">
                <a:solidFill>
                  <a:srgbClr val="574D45"/>
                </a:solidFill>
                <a:latin typeface="Merriweather"/>
                <a:sym typeface="Merriweather"/>
              </a:rPr>
              <a:t>Unlike core-bundled solutions that treat this work as an afterthought, or enterprise vendors retrofitted for community banks: </a:t>
            </a:r>
            <a:r>
              <a:rPr lang="en-US" sz="1400" b="1" dirty="0">
                <a:solidFill>
                  <a:srgbClr val="574D45"/>
                </a:solidFill>
                <a:latin typeface="Merriweather"/>
                <a:sym typeface="Merriweather"/>
              </a:rPr>
              <a:t>HC3 is built by operators, who know banking, with 64 years of experience. </a:t>
            </a:r>
            <a:br>
              <a:rPr lang="en-US" sz="1400" b="1" dirty="0"/>
            </a:br>
            <a:endParaRPr lang="en-US" sz="1400" b="1" dirty="0"/>
          </a:p>
          <a:p>
            <a:pPr marL="114300" indent="0">
              <a:buNone/>
            </a:pPr>
            <a:endParaRPr sz="12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" name="Google Shape;130;p28" title="HC3 Logo (Full).png">
            <a:extLst>
              <a:ext uri="{FF2B5EF4-FFF2-40B4-BE49-F238E27FC236}">
                <a16:creationId xmlns:a16="http://schemas.microsoft.com/office/drawing/2014/main" id="{3944AC20-E617-1CD9-2CA0-88381BCB01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856400"/>
            <a:ext cx="640238" cy="166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8062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708FC223-C8E2-56A9-9F05-2D5139A6A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>
            <a:extLst>
              <a:ext uri="{FF2B5EF4-FFF2-40B4-BE49-F238E27FC236}">
                <a16:creationId xmlns:a16="http://schemas.microsoft.com/office/drawing/2014/main" id="{D9483D2E-353A-73BE-BCF4-704A6FC1B8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4507" y="588282"/>
            <a:ext cx="7988400" cy="36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rgbClr val="574D45"/>
              </a:buClr>
              <a:buSzPts val="1400"/>
              <a:buNone/>
            </a:pPr>
            <a:r>
              <a:rPr lang="en" b="1">
                <a:solidFill>
                  <a:srgbClr val="002060"/>
                </a:solidFill>
                <a:latin typeface="Merriweather"/>
                <a:ea typeface="Merriweather"/>
                <a:cs typeface="Merriweather"/>
                <a:sym typeface="Merriweather"/>
              </a:rPr>
              <a:t>What HC3 Is (and Is Not)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rgbClr val="574D45"/>
              </a:buClr>
              <a:buSzPts val="1400"/>
              <a:buNone/>
            </a:pPr>
            <a:endParaRPr lang="en" sz="120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rgbClr val="6EA0D5"/>
              </a:buClr>
              <a:buSzPts val="1400"/>
              <a:buNone/>
            </a:pPr>
            <a:br>
              <a:rPr lang="en-US" sz="1400"/>
            </a:br>
            <a:endParaRPr lang="en-US" sz="1400"/>
          </a:p>
          <a:p>
            <a:pPr marL="114300" indent="0">
              <a:buNone/>
            </a:pPr>
            <a:endParaRPr sz="120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" name="Google Shape;130;p28" title="HC3 Logo (Full).png">
            <a:extLst>
              <a:ext uri="{FF2B5EF4-FFF2-40B4-BE49-F238E27FC236}">
                <a16:creationId xmlns:a16="http://schemas.microsoft.com/office/drawing/2014/main" id="{B92AC025-A26E-C5C1-BB56-7AF95725F1C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856400"/>
            <a:ext cx="640238" cy="16672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5A90D8-E23E-84DF-295E-1A371C8DF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504279"/>
              </p:ext>
            </p:extLst>
          </p:nvPr>
        </p:nvGraphicFramePr>
        <p:xfrm>
          <a:off x="955964" y="1318686"/>
          <a:ext cx="7252854" cy="2563306"/>
        </p:xfrm>
        <a:graphic>
          <a:graphicData uri="http://schemas.openxmlformats.org/drawingml/2006/table">
            <a:tbl>
              <a:tblPr firstRow="1" bandRow="1">
                <a:tableStyleId>{7ABDA869-E044-475C-AE7F-30E7C699F30A}</a:tableStyleId>
              </a:tblPr>
              <a:tblGrid>
                <a:gridCol w="3634955">
                  <a:extLst>
                    <a:ext uri="{9D8B030D-6E8A-4147-A177-3AD203B41FA5}">
                      <a16:colId xmlns:a16="http://schemas.microsoft.com/office/drawing/2014/main" val="1332934821"/>
                    </a:ext>
                  </a:extLst>
                </a:gridCol>
                <a:gridCol w="3617899">
                  <a:extLst>
                    <a:ext uri="{9D8B030D-6E8A-4147-A177-3AD203B41FA5}">
                      <a16:colId xmlns:a16="http://schemas.microsoft.com/office/drawing/2014/main" val="36414486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6EA0D5"/>
                          </a:solidFill>
                          <a:latin typeface="Merriweather" panose="00000500000000000000" pitchFamily="2" charset="0"/>
                        </a:rPr>
                        <a:t>HC3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6EA0D5"/>
                          </a:solidFill>
                          <a:latin typeface="Merriweather" panose="00000500000000000000" pitchFamily="2" charset="0"/>
                        </a:rPr>
                        <a:t>HC3 Is 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10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lang="en-US" sz="1200" dirty="0">
                          <a:solidFill>
                            <a:srgbClr val="574D45"/>
                          </a:solidFill>
                          <a:latin typeface="Merriweather" panose="00000500000000000000" pitchFamily="2" charset="0"/>
                        </a:rPr>
                        <a:t>An operations partner for the critical work community FIs can’t afford to get wrong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lang="en-US" sz="1200">
                          <a:solidFill>
                            <a:srgbClr val="574D45"/>
                          </a:solidFill>
                          <a:latin typeface="Merriweather" panose="00000500000000000000" pitchFamily="2" charset="0"/>
                        </a:rPr>
                        <a:t>A platform, a core system, or a core replacement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681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lang="en-US" sz="1200" dirty="0">
                          <a:solidFill>
                            <a:srgbClr val="574D45"/>
                          </a:solidFill>
                          <a:latin typeface="Merriweather" panose="00000500000000000000" pitchFamily="2" charset="0"/>
                        </a:rPr>
                        <a:t>A specialist in the work the core was never built to 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lang="en-US" sz="1200" dirty="0">
                          <a:solidFill>
                            <a:srgbClr val="574D45"/>
                          </a:solidFill>
                          <a:latin typeface="Merriweather" panose="00000500000000000000" pitchFamily="2" charset="0"/>
                        </a:rPr>
                        <a:t>A generic technology vendor selling features on a comparison chart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254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lang="en-US" sz="1200" dirty="0">
                          <a:solidFill>
                            <a:srgbClr val="574D45"/>
                          </a:solidFill>
                          <a:latin typeface="Merriweather" panose="00000500000000000000" pitchFamily="2" charset="0"/>
                        </a:rPr>
                        <a:t>The team that takes ownership when something goes wrong, and tells the client before they have to 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lang="en-US" sz="1200" dirty="0">
                          <a:solidFill>
                            <a:srgbClr val="574D45"/>
                          </a:solidFill>
                          <a:latin typeface="Merriweather" panose="00000500000000000000" pitchFamily="2" charset="0"/>
                        </a:rPr>
                        <a:t>A vendor clients have to manage solely through support tickets and SLA reports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368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lang="en-US" sz="1200" dirty="0">
                          <a:solidFill>
                            <a:srgbClr val="574D45"/>
                          </a:solidFill>
                          <a:latin typeface="Merriweather" panose="00000500000000000000" pitchFamily="2" charset="0"/>
                        </a:rPr>
                        <a:t>A family-owned partner that runs alongside/as an extension of FI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lang="en-US" sz="1200" dirty="0">
                          <a:solidFill>
                            <a:srgbClr val="574D45"/>
                          </a:solidFill>
                          <a:latin typeface="Merriweather" panose="00000500000000000000" pitchFamily="2" charset="0"/>
                        </a:rPr>
                        <a:t>A system that forces a technology change before it delivers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097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0654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EDD27C9A-DFBA-C776-1593-5E46D6E8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>
            <a:extLst>
              <a:ext uri="{FF2B5EF4-FFF2-40B4-BE49-F238E27FC236}">
                <a16:creationId xmlns:a16="http://schemas.microsoft.com/office/drawing/2014/main" id="{EF7643D0-75DA-9A0B-0C0D-AD47B28E24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4507" y="588282"/>
            <a:ext cx="7988400" cy="36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rgbClr val="574D45"/>
              </a:buClr>
              <a:buSzPts val="1400"/>
              <a:buNone/>
            </a:pPr>
            <a:r>
              <a:rPr lang="en" b="1" dirty="0">
                <a:solidFill>
                  <a:srgbClr val="002060"/>
                </a:solidFill>
                <a:latin typeface="Merriweather"/>
                <a:ea typeface="Merriweather"/>
                <a:cs typeface="Merriweather"/>
                <a:sym typeface="Merriweather"/>
              </a:rPr>
              <a:t>The Acquisition-Ready Foundation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rgbClr val="574D45"/>
              </a:buClr>
              <a:buSzPts val="1400"/>
              <a:buNone/>
            </a:pPr>
            <a:endParaRPr lang="en" sz="12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rgbClr val="6EA0D5"/>
              </a:buClr>
              <a:buSzPts val="1400"/>
              <a:buNone/>
            </a:pPr>
            <a:r>
              <a:rPr lang="en" sz="1600" b="1" dirty="0">
                <a:solidFill>
                  <a:srgbClr val="6EA0D5"/>
                </a:solidFill>
                <a:latin typeface="Merriweather"/>
                <a:ea typeface="Merriweather"/>
                <a:cs typeface="Merriweather"/>
                <a:sym typeface="Merriweather"/>
              </a:rPr>
              <a:t>Elevator Pitch</a:t>
            </a:r>
            <a:br>
              <a:rPr lang="en" sz="1600" b="1" dirty="0">
                <a:solidFill>
                  <a:srgbClr val="6EA0D5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lang="en" sz="12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114300" indent="0">
              <a:buNone/>
            </a:pPr>
            <a:r>
              <a:rPr lang="en-US" sz="1400" b="1" dirty="0">
                <a:latin typeface="Merriweather" panose="00000500000000000000" pitchFamily="2" charset="0"/>
              </a:rPr>
              <a:t>We handle what your core wasn’t built to do.</a:t>
            </a:r>
          </a:p>
          <a:p>
            <a:pPr marL="114300" indent="0">
              <a:buNone/>
            </a:pPr>
            <a:endParaRPr lang="en" sz="1600" b="1" dirty="0">
              <a:solidFill>
                <a:srgbClr val="574D45"/>
              </a:solidFill>
              <a:latin typeface="Merriweather"/>
              <a:sym typeface="Merriweather"/>
            </a:endParaRPr>
          </a:p>
          <a:p>
            <a:pPr marL="114300" indent="0">
              <a:buNone/>
            </a:pPr>
            <a:r>
              <a:rPr lang="en-US" sz="1400" dirty="0">
                <a:latin typeface="Merriweather" panose="00000500000000000000" pitchFamily="2" charset="0"/>
              </a:rPr>
              <a:t>HC3 delivers measurable operational efficiency: cost savings, processing time reduction, and lower error rates. 400+ financial institutions trust HC3, because we handle the complex operational work their teams don't have the bandwidth or expertise to perfect.</a:t>
            </a:r>
          </a:p>
          <a:p>
            <a:pPr marL="114300" indent="0">
              <a:buNone/>
            </a:pPr>
            <a:endParaRPr lang="en-US" sz="1200" dirty="0">
              <a:latin typeface="Merriweather" panose="00000500000000000000" pitchFamily="2" charset="0"/>
            </a:endParaRPr>
          </a:p>
          <a:p>
            <a:pPr marL="114300" indent="0">
              <a:buNone/>
            </a:pPr>
            <a:endParaRPr sz="12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" name="Google Shape;130;p28" title="HC3 Logo (Full).png">
            <a:extLst>
              <a:ext uri="{FF2B5EF4-FFF2-40B4-BE49-F238E27FC236}">
                <a16:creationId xmlns:a16="http://schemas.microsoft.com/office/drawing/2014/main" id="{FB0A585E-4BE5-28DF-958F-E2C34F499D8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856400"/>
            <a:ext cx="640238" cy="166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4357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AB9C81DE-6B0F-44B5-D8A2-3A7F53F67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>
            <a:extLst>
              <a:ext uri="{FF2B5EF4-FFF2-40B4-BE49-F238E27FC236}">
                <a16:creationId xmlns:a16="http://schemas.microsoft.com/office/drawing/2014/main" id="{274CAD58-2537-6276-CC98-76E2B0DF77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4507" y="588282"/>
            <a:ext cx="7988400" cy="36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rgbClr val="574D45"/>
              </a:buClr>
              <a:buSzPts val="1400"/>
              <a:buNone/>
            </a:pPr>
            <a:r>
              <a:rPr lang="en" b="1" dirty="0">
                <a:solidFill>
                  <a:srgbClr val="002060"/>
                </a:solidFill>
                <a:latin typeface="Merriweather"/>
                <a:ea typeface="Merriweather"/>
                <a:cs typeface="Merriweather"/>
                <a:sym typeface="Merriweather"/>
              </a:rPr>
              <a:t>Why It Works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rgbClr val="574D45"/>
              </a:buClr>
              <a:buSzPts val="1400"/>
              <a:buNone/>
            </a:pPr>
            <a:endParaRPr lang="en" sz="12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rgbClr val="6EA0D5"/>
              </a:buClr>
              <a:buSzPts val="1400"/>
              <a:buNone/>
            </a:pPr>
            <a:r>
              <a:rPr lang="en" sz="1600" b="1" dirty="0">
                <a:solidFill>
                  <a:srgbClr val="6EA0D5"/>
                </a:solidFill>
                <a:latin typeface="Merriweather"/>
                <a:ea typeface="Merriweather"/>
                <a:cs typeface="Merriweather"/>
                <a:sym typeface="Merriweather"/>
              </a:rPr>
              <a:t>Fills a Positioning Gap</a:t>
            </a:r>
          </a:p>
          <a:p>
            <a:pPr marL="114300" indent="0">
              <a:buNone/>
            </a:pPr>
            <a:endParaRPr lang="en" sz="14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>
              <a:buSzPct val="75000"/>
            </a:pPr>
            <a:r>
              <a:rPr lang="en-US" sz="1400" dirty="0">
                <a:solidFill>
                  <a:srgbClr val="574D45"/>
                </a:solidFill>
                <a:latin typeface="Merriweather"/>
                <a:sym typeface="Merriweather"/>
              </a:rPr>
              <a:t>Transformation language fatigue</a:t>
            </a:r>
          </a:p>
          <a:p>
            <a:pPr>
              <a:buSzPct val="75000"/>
            </a:pPr>
            <a:r>
              <a:rPr lang="en-US" sz="1400" dirty="0">
                <a:solidFill>
                  <a:srgbClr val="574D45"/>
                </a:solidFill>
                <a:latin typeface="Merriweather"/>
                <a:sym typeface="Merriweather"/>
              </a:rPr>
              <a:t>Actual problems FIs are worried about are extremely practical</a:t>
            </a:r>
          </a:p>
          <a:p>
            <a:pPr>
              <a:buSzPct val="75000"/>
            </a:pPr>
            <a:r>
              <a:rPr lang="en-US" sz="1400" dirty="0">
                <a:solidFill>
                  <a:srgbClr val="574D45"/>
                </a:solidFill>
                <a:latin typeface="Merriweather"/>
                <a:sym typeface="Merriweather"/>
              </a:rPr>
              <a:t>“Operationally useful” beats “Visionary”</a:t>
            </a:r>
          </a:p>
          <a:p>
            <a:pPr>
              <a:buSzPct val="75000"/>
            </a:pPr>
            <a:r>
              <a:rPr lang="en-US" sz="1400" dirty="0">
                <a:solidFill>
                  <a:srgbClr val="574D45"/>
                </a:solidFill>
                <a:latin typeface="Merriweather"/>
                <a:sym typeface="Merriweather"/>
              </a:rPr>
              <a:t>The company that removes friction wins trust</a:t>
            </a:r>
          </a:p>
          <a:p>
            <a:pPr>
              <a:buSzPct val="75000"/>
            </a:pPr>
            <a:r>
              <a:rPr lang="en-US" sz="1400" dirty="0">
                <a:solidFill>
                  <a:srgbClr val="574D45"/>
                </a:solidFill>
                <a:latin typeface="Merriweather"/>
                <a:sym typeface="Merriweather"/>
              </a:rPr>
              <a:t>“We reduce operational friction” beats “We reinvent banking”</a:t>
            </a:r>
          </a:p>
          <a:p>
            <a:pPr marL="114300" indent="0">
              <a:buNone/>
            </a:pPr>
            <a:br>
              <a:rPr lang="en-US" sz="1400" dirty="0"/>
            </a:br>
            <a:endParaRPr lang="en-US" sz="1400" dirty="0"/>
          </a:p>
          <a:p>
            <a:pPr marL="114300" indent="0">
              <a:buNone/>
            </a:pPr>
            <a:endParaRPr sz="12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" name="Google Shape;130;p28" title="HC3 Logo (Full).png">
            <a:extLst>
              <a:ext uri="{FF2B5EF4-FFF2-40B4-BE49-F238E27FC236}">
                <a16:creationId xmlns:a16="http://schemas.microsoft.com/office/drawing/2014/main" id="{66D476B5-9DF0-32AE-597C-BE71BE36DBE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856400"/>
            <a:ext cx="640238" cy="166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6367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20710A5F-F41E-B6D8-B053-BABA91E2C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ED3464-0E02-EE7D-A89E-90E068C5E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07" y="1277991"/>
            <a:ext cx="7715250" cy="3857625"/>
          </a:xfrm>
          <a:prstGeom prst="rect">
            <a:avLst/>
          </a:prstGeom>
        </p:spPr>
      </p:pic>
      <p:sp>
        <p:nvSpPr>
          <p:cNvPr id="140" name="Google Shape;140;p30">
            <a:extLst>
              <a:ext uri="{FF2B5EF4-FFF2-40B4-BE49-F238E27FC236}">
                <a16:creationId xmlns:a16="http://schemas.microsoft.com/office/drawing/2014/main" id="{15902814-EC53-7381-57D5-0E42DF58F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4507" y="588282"/>
            <a:ext cx="7988400" cy="36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rgbClr val="574D45"/>
              </a:buClr>
              <a:buSzPts val="1400"/>
              <a:buNone/>
            </a:pPr>
            <a:r>
              <a:rPr lang="en" b="1" dirty="0">
                <a:solidFill>
                  <a:srgbClr val="002060"/>
                </a:solidFill>
                <a:latin typeface="Merriweather"/>
                <a:ea typeface="Merriweather"/>
                <a:cs typeface="Merriweather"/>
                <a:sym typeface="Merriweather"/>
              </a:rPr>
              <a:t>The Acquisition-Ready Foundation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rgbClr val="574D45"/>
              </a:buClr>
              <a:buSzPts val="1400"/>
              <a:buNone/>
            </a:pPr>
            <a:endParaRPr lang="en" sz="12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114300" indent="0">
              <a:buNone/>
            </a:pPr>
            <a:r>
              <a:rPr lang="en" sz="1600" b="1" dirty="0">
                <a:solidFill>
                  <a:srgbClr val="6EA0D5"/>
                </a:solidFill>
                <a:latin typeface="Merriweather"/>
                <a:ea typeface="Merriweather"/>
                <a:cs typeface="Merriweather"/>
                <a:sym typeface="Merriweather"/>
              </a:rPr>
              <a:t>How Non-Statement Products Fit</a:t>
            </a:r>
            <a:endParaRPr sz="12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" name="Google Shape;130;p28" title="HC3 Logo (Full).png">
            <a:extLst>
              <a:ext uri="{FF2B5EF4-FFF2-40B4-BE49-F238E27FC236}">
                <a16:creationId xmlns:a16="http://schemas.microsoft.com/office/drawing/2014/main" id="{1CE34141-8FDA-A10B-9161-FD210EFD54D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856400"/>
            <a:ext cx="640238" cy="16672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40;p30">
            <a:extLst>
              <a:ext uri="{FF2B5EF4-FFF2-40B4-BE49-F238E27FC236}">
                <a16:creationId xmlns:a16="http://schemas.microsoft.com/office/drawing/2014/main" id="{15B4A0AD-7AC4-9691-A8D3-118408A3A21E}"/>
              </a:ext>
            </a:extLst>
          </p:cNvPr>
          <p:cNvSpPr txBox="1">
            <a:spLocks/>
          </p:cNvSpPr>
          <p:nvPr/>
        </p:nvSpPr>
        <p:spPr>
          <a:xfrm>
            <a:off x="2884554" y="3259725"/>
            <a:ext cx="1867307" cy="511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Clr>
                <a:srgbClr val="574D45"/>
              </a:buClr>
              <a:buSzPts val="1400"/>
              <a:buFont typeface="Arial"/>
              <a:buNone/>
            </a:pPr>
            <a:r>
              <a:rPr lang="en-US" sz="1600" b="1" dirty="0">
                <a:solidFill>
                  <a:srgbClr val="002060"/>
                </a:solidFill>
                <a:latin typeface="Merriweather"/>
                <a:ea typeface="Merriweather"/>
                <a:cs typeface="Merriweather"/>
                <a:sym typeface="Merriweather"/>
              </a:rPr>
              <a:t>Statements</a:t>
            </a:r>
          </a:p>
          <a:p>
            <a:pPr marL="139700" indent="0">
              <a:buClr>
                <a:srgbClr val="574D45"/>
              </a:buClr>
              <a:buSzPts val="1400"/>
              <a:buFont typeface="Arial"/>
              <a:buNone/>
            </a:pPr>
            <a:endParaRPr lang="en-US" sz="11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114300" indent="0">
              <a:buFont typeface="Arial"/>
              <a:buNone/>
            </a:pPr>
            <a:endParaRPr lang="en-US" sz="11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" name="Google Shape;140;p30">
            <a:extLst>
              <a:ext uri="{FF2B5EF4-FFF2-40B4-BE49-F238E27FC236}">
                <a16:creationId xmlns:a16="http://schemas.microsoft.com/office/drawing/2014/main" id="{1604FAF8-919D-A297-0ACA-6E944523F39C}"/>
              </a:ext>
            </a:extLst>
          </p:cNvPr>
          <p:cNvSpPr txBox="1">
            <a:spLocks/>
          </p:cNvSpPr>
          <p:nvPr/>
        </p:nvSpPr>
        <p:spPr>
          <a:xfrm>
            <a:off x="4614969" y="3259725"/>
            <a:ext cx="1867307" cy="511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Clr>
                <a:srgbClr val="574D45"/>
              </a:buClr>
              <a:buSzPts val="1400"/>
              <a:buFont typeface="Arial"/>
              <a:buNone/>
            </a:pPr>
            <a:r>
              <a:rPr lang="en-US" sz="1600" b="1" dirty="0" err="1">
                <a:solidFill>
                  <a:srgbClr val="002060"/>
                </a:solidFill>
                <a:latin typeface="Merriweather"/>
                <a:ea typeface="Merriweather"/>
                <a:cs typeface="Merriweather"/>
                <a:sym typeface="Merriweather"/>
              </a:rPr>
              <a:t>AutoAVS</a:t>
            </a:r>
            <a:endParaRPr lang="en-US" sz="1600" b="1" dirty="0">
              <a:solidFill>
                <a:srgbClr val="00206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139700" indent="0">
              <a:buClr>
                <a:srgbClr val="574D45"/>
              </a:buClr>
              <a:buSzPts val="1400"/>
              <a:buFont typeface="Arial"/>
              <a:buNone/>
            </a:pPr>
            <a:endParaRPr lang="en-US" sz="11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114300" indent="0">
              <a:buFont typeface="Arial"/>
              <a:buNone/>
            </a:pPr>
            <a:endParaRPr lang="en-US" sz="11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" name="Google Shape;140;p30">
            <a:extLst>
              <a:ext uri="{FF2B5EF4-FFF2-40B4-BE49-F238E27FC236}">
                <a16:creationId xmlns:a16="http://schemas.microsoft.com/office/drawing/2014/main" id="{5B37038B-0319-954B-255D-D1F768A2A29E}"/>
              </a:ext>
            </a:extLst>
          </p:cNvPr>
          <p:cNvSpPr txBox="1">
            <a:spLocks/>
          </p:cNvSpPr>
          <p:nvPr/>
        </p:nvSpPr>
        <p:spPr>
          <a:xfrm>
            <a:off x="4978252" y="3609921"/>
            <a:ext cx="1716844" cy="511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Clr>
                <a:srgbClr val="574D45"/>
              </a:buClr>
              <a:buSzPts val="1400"/>
              <a:buFont typeface="Arial"/>
              <a:buNone/>
            </a:pPr>
            <a:r>
              <a:rPr lang="en-US" sz="1600" b="1" dirty="0">
                <a:solidFill>
                  <a:srgbClr val="6EA0D5"/>
                </a:solidFill>
                <a:latin typeface="Merriweather"/>
                <a:ea typeface="Merriweather"/>
                <a:cs typeface="Merriweather"/>
                <a:sym typeface="Merriweather"/>
              </a:rPr>
              <a:t>Acquisitions</a:t>
            </a:r>
          </a:p>
          <a:p>
            <a:pPr marL="139700" indent="0">
              <a:buClr>
                <a:srgbClr val="574D45"/>
              </a:buClr>
              <a:buSzPts val="1400"/>
              <a:buFont typeface="Arial"/>
              <a:buNone/>
            </a:pPr>
            <a:endParaRPr lang="en-US" sz="11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114300" indent="0">
              <a:buFont typeface="Arial"/>
              <a:buNone/>
            </a:pPr>
            <a:endParaRPr lang="en-US" sz="11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" name="Google Shape;140;p30">
            <a:extLst>
              <a:ext uri="{FF2B5EF4-FFF2-40B4-BE49-F238E27FC236}">
                <a16:creationId xmlns:a16="http://schemas.microsoft.com/office/drawing/2014/main" id="{DB8A41BB-84E2-52CA-85F8-8CC7FD6714A4}"/>
              </a:ext>
            </a:extLst>
          </p:cNvPr>
          <p:cNvSpPr txBox="1">
            <a:spLocks/>
          </p:cNvSpPr>
          <p:nvPr/>
        </p:nvSpPr>
        <p:spPr>
          <a:xfrm>
            <a:off x="2966604" y="2268858"/>
            <a:ext cx="3296731" cy="511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indent="0">
              <a:buClr>
                <a:srgbClr val="574D45"/>
              </a:buClr>
              <a:buSzPts val="1400"/>
              <a:buFont typeface="Arial"/>
              <a:buNone/>
            </a:pPr>
            <a:r>
              <a:rPr lang="en-US" sz="1600" b="1" dirty="0">
                <a:solidFill>
                  <a:schemeClr val="bg1"/>
                </a:solidFill>
                <a:latin typeface="Merriweather"/>
                <a:ea typeface="Merriweather"/>
                <a:cs typeface="Merriweather"/>
                <a:sym typeface="Merriweather"/>
              </a:rPr>
              <a:t>High-Stakes Critical Work</a:t>
            </a:r>
          </a:p>
          <a:p>
            <a:pPr marL="139700" indent="0">
              <a:buClr>
                <a:srgbClr val="574D45"/>
              </a:buClr>
              <a:buSzPts val="1400"/>
              <a:buFont typeface="Arial"/>
              <a:buNone/>
            </a:pPr>
            <a:endParaRPr lang="en-US" sz="1100" dirty="0">
              <a:solidFill>
                <a:schemeClr val="bg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114300" indent="0">
              <a:buFont typeface="Arial"/>
              <a:buNone/>
            </a:pPr>
            <a:endParaRPr lang="en-US" sz="1100" dirty="0">
              <a:solidFill>
                <a:schemeClr val="bg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  <p:extLst>
      <p:ext uri="{BB962C8B-B14F-4D97-AF65-F5344CB8AC3E}">
        <p14:creationId xmlns:p14="http://schemas.microsoft.com/office/powerpoint/2010/main" val="2708108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8A104B07-A877-28E9-B1CE-FE01C1E58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>
            <a:extLst>
              <a:ext uri="{FF2B5EF4-FFF2-40B4-BE49-F238E27FC236}">
                <a16:creationId xmlns:a16="http://schemas.microsoft.com/office/drawing/2014/main" id="{731F9561-ADF4-15D7-BEA9-F7E1C7071E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4507" y="588282"/>
            <a:ext cx="7721348" cy="36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rgbClr val="574D45"/>
              </a:buClr>
              <a:buSzPts val="1400"/>
              <a:buNone/>
            </a:pPr>
            <a:r>
              <a:rPr lang="en" b="1" dirty="0">
                <a:solidFill>
                  <a:srgbClr val="002060"/>
                </a:solidFill>
                <a:latin typeface="Merriweather"/>
                <a:ea typeface="Merriweather"/>
                <a:cs typeface="Merriweather"/>
                <a:sym typeface="Merriweather"/>
              </a:rPr>
              <a:t>Q&amp;A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Clr>
                <a:srgbClr val="574D45"/>
              </a:buClr>
              <a:buSzPts val="1400"/>
              <a:buNone/>
            </a:pPr>
            <a:endParaRPr lang="en" sz="12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82600" lvl="0" algn="l" rtl="0">
              <a:spcBef>
                <a:spcPts val="0"/>
              </a:spcBef>
              <a:spcAft>
                <a:spcPts val="0"/>
              </a:spcAft>
              <a:buClr>
                <a:srgbClr val="6EA0D5"/>
              </a:buClr>
              <a:buSzPts val="1400"/>
              <a:buAutoNum type="arabicPeriod"/>
            </a:pPr>
            <a:r>
              <a:rPr lang="en" sz="1600" b="1" dirty="0">
                <a:solidFill>
                  <a:srgbClr val="6EA0D5"/>
                </a:solidFill>
                <a:latin typeface="Merriweather"/>
                <a:ea typeface="Merriweather"/>
                <a:cs typeface="Merriweather"/>
                <a:sym typeface="Merriweather"/>
              </a:rPr>
              <a:t>Why Now?</a:t>
            </a:r>
          </a:p>
          <a:p>
            <a:pPr marL="939800" lvl="1">
              <a:buClr>
                <a:srgbClr val="574D45"/>
              </a:buClr>
              <a:buFont typeface="Arial" panose="020B0604020202020204" pitchFamily="34" charset="0"/>
              <a:buChar char="•"/>
            </a:pPr>
            <a:r>
              <a:rPr lang="en" sz="1200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The best time for strategic positioning is when we don’t have pressure.</a:t>
            </a:r>
          </a:p>
          <a:p>
            <a:pPr marL="622300" lvl="1" indent="0">
              <a:buClr>
                <a:srgbClr val="574D45"/>
              </a:buClr>
              <a:buNone/>
            </a:pPr>
            <a:endParaRPr lang="en" sz="12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82600" lvl="0" algn="l" rtl="0">
              <a:spcBef>
                <a:spcPts val="0"/>
              </a:spcBef>
              <a:spcAft>
                <a:spcPts val="0"/>
              </a:spcAft>
              <a:buClr>
                <a:srgbClr val="6EA0D5"/>
              </a:buClr>
              <a:buSzPts val="1400"/>
              <a:buAutoNum type="arabicPeriod"/>
            </a:pPr>
            <a:r>
              <a:rPr lang="en" sz="1600" b="1" dirty="0">
                <a:solidFill>
                  <a:srgbClr val="6EA0D5"/>
                </a:solidFill>
                <a:latin typeface="Merriweather"/>
                <a:ea typeface="Merriweather"/>
                <a:cs typeface="Merriweather"/>
                <a:sym typeface="Merriweather"/>
              </a:rPr>
              <a:t>What’s this going to cost?</a:t>
            </a:r>
          </a:p>
          <a:p>
            <a:pPr marL="939800" lvl="1">
              <a:buClr>
                <a:srgbClr val="574D45"/>
              </a:buClr>
              <a:buFont typeface="Arial" panose="020B0604020202020204" pitchFamily="34" charset="0"/>
              <a:buChar char="•"/>
            </a:pPr>
            <a:r>
              <a:rPr lang="en" sz="1200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Positioning work is complete. </a:t>
            </a:r>
          </a:p>
          <a:p>
            <a:pPr marL="939800" lvl="1">
              <a:buClr>
                <a:srgbClr val="574D45"/>
              </a:buClr>
              <a:buFont typeface="Arial" panose="020B0604020202020204" pitchFamily="34" charset="0"/>
              <a:buChar char="•"/>
            </a:pPr>
            <a:r>
              <a:rPr lang="en" sz="1200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Implemention = internal effort with Marketing leading GTM activities.</a:t>
            </a:r>
          </a:p>
          <a:p>
            <a:pPr marL="482600" lvl="0" algn="l" rtl="0">
              <a:spcBef>
                <a:spcPts val="0"/>
              </a:spcBef>
              <a:spcAft>
                <a:spcPts val="0"/>
              </a:spcAft>
              <a:buClr>
                <a:srgbClr val="574D45"/>
              </a:buClr>
              <a:buSzPts val="1400"/>
              <a:buAutoNum type="arabicPeriod"/>
            </a:pPr>
            <a:endParaRPr lang="en" sz="12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82600" lvl="0" algn="l" rtl="0">
              <a:spcBef>
                <a:spcPts val="0"/>
              </a:spcBef>
              <a:spcAft>
                <a:spcPts val="0"/>
              </a:spcAft>
              <a:buClr>
                <a:srgbClr val="6EA0D5"/>
              </a:buClr>
              <a:buSzPts val="1400"/>
              <a:buAutoNum type="arabicPeriod"/>
            </a:pPr>
            <a:r>
              <a:rPr lang="en" sz="1600" b="1" dirty="0">
                <a:solidFill>
                  <a:srgbClr val="6EA0D5"/>
                </a:solidFill>
                <a:latin typeface="Merriweather"/>
                <a:ea typeface="Merriweather"/>
                <a:cs typeface="Merriweather"/>
                <a:sym typeface="Merriweather"/>
              </a:rPr>
              <a:t>What should you hold me accountable for?</a:t>
            </a:r>
          </a:p>
          <a:p>
            <a:pPr marL="939800" lvl="1">
              <a:buClr>
                <a:srgbClr val="574D45"/>
              </a:buCl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Top of Funnel: </a:t>
            </a:r>
            <a:r>
              <a:rPr lang="en-US" sz="1200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industry recognition that drives pipeline from events, lead generation &amp; analyst mentions as an “operations partner” vs. “statements vendor”</a:t>
            </a:r>
          </a:p>
          <a:p>
            <a:pPr marL="939800" lvl="1">
              <a:buClr>
                <a:srgbClr val="574D45"/>
              </a:buCl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Mid-Funnel: </a:t>
            </a:r>
            <a:r>
              <a:rPr lang="en-US" sz="1200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Website conversion improvement</a:t>
            </a:r>
          </a:p>
          <a:p>
            <a:pPr marL="939800" lvl="1">
              <a:buClr>
                <a:srgbClr val="574D45"/>
              </a:buCl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Post-Sales: </a:t>
            </a:r>
            <a:r>
              <a:rPr lang="en-US" sz="1200" dirty="0">
                <a:solidFill>
                  <a:srgbClr val="574D45"/>
                </a:solidFill>
                <a:latin typeface="Merriweather"/>
                <a:ea typeface="Merriweather"/>
                <a:cs typeface="Merriweather"/>
                <a:sym typeface="Merriweather"/>
              </a:rPr>
              <a:t>Better visibility to additional solutions, conversations shifting to more value-add / cross-sell opportunities with existing logos</a:t>
            </a:r>
            <a:endParaRPr lang="en" sz="12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82600">
              <a:buClr>
                <a:srgbClr val="574D45"/>
              </a:buClr>
              <a:buFont typeface="Arial" panose="020B0604020202020204" pitchFamily="34" charset="0"/>
              <a:buChar char="•"/>
            </a:pPr>
            <a:endParaRPr lang="en" sz="16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82600" lvl="0" algn="l" rtl="0">
              <a:spcBef>
                <a:spcPts val="0"/>
              </a:spcBef>
              <a:spcAft>
                <a:spcPts val="0"/>
              </a:spcAft>
              <a:buClr>
                <a:srgbClr val="574D45"/>
              </a:buClr>
              <a:buSzPts val="1400"/>
              <a:buAutoNum type="arabicPeriod"/>
            </a:pPr>
            <a:endParaRPr sz="1200" dirty="0">
              <a:solidFill>
                <a:srgbClr val="574D4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" name="Google Shape;130;p28" title="HC3 Logo (Full).png">
            <a:extLst>
              <a:ext uri="{FF2B5EF4-FFF2-40B4-BE49-F238E27FC236}">
                <a16:creationId xmlns:a16="http://schemas.microsoft.com/office/drawing/2014/main" id="{432B4B3C-B44D-E54F-8AE6-44A58C73FB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856400"/>
            <a:ext cx="640238" cy="166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141365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09B0DE38EA524F94BAE154DA29AE9F" ma:contentTypeVersion="14" ma:contentTypeDescription="Create a new document." ma:contentTypeScope="" ma:versionID="fc3fce8ceba7cb08923323cc6e6c0ebd">
  <xsd:schema xmlns:xsd="http://www.w3.org/2001/XMLSchema" xmlns:xs="http://www.w3.org/2001/XMLSchema" xmlns:p="http://schemas.microsoft.com/office/2006/metadata/properties" xmlns:ns1="http://schemas.microsoft.com/sharepoint/v3" xmlns:ns2="06338238-c595-44fe-a903-cfbffab57faa" xmlns:ns3="f8398484-59b7-43e4-8c3f-fec28fb3e8ed" targetNamespace="http://schemas.microsoft.com/office/2006/metadata/properties" ma:root="true" ma:fieldsID="8f28929980daad0c254f70b5e6f8b945" ns1:_="" ns2:_="" ns3:_="">
    <xsd:import namespace="http://schemas.microsoft.com/sharepoint/v3"/>
    <xsd:import namespace="06338238-c595-44fe-a903-cfbffab57faa"/>
    <xsd:import namespace="f8398484-59b7-43e4-8c3f-fec28fb3e8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338238-c595-44fe-a903-cfbffab57f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25d68621-2421-429b-973d-516eb4ac04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398484-59b7-43e4-8c3f-fec28fb3e8e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ae27945-568f-4606-ba4c-6e1ccaeb78a4}" ma:internalName="TaxCatchAll" ma:showField="CatchAllData" ma:web="f8398484-59b7-43e4-8c3f-fec28fb3e8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338238-c595-44fe-a903-cfbffab57faa">
      <Terms xmlns="http://schemas.microsoft.com/office/infopath/2007/PartnerControls"/>
    </lcf76f155ced4ddcb4097134ff3c332f>
    <_ip_UnifiedCompliancePolicyUIAction xmlns="http://schemas.microsoft.com/sharepoint/v3" xsi:nil="true"/>
    <TaxCatchAll xmlns="f8398484-59b7-43e4-8c3f-fec28fb3e8ed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8EF846-F3B2-4372-9B56-A4DB941D6ADF}">
  <ds:schemaRefs>
    <ds:schemaRef ds:uri="06338238-c595-44fe-a903-cfbffab57faa"/>
    <ds:schemaRef ds:uri="f8398484-59b7-43e4-8c3f-fec28fb3e8e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62C48C5-DFB5-40B7-8BCD-92939C462830}">
  <ds:schemaRefs>
    <ds:schemaRef ds:uri="06338238-c595-44fe-a903-cfbffab57faa"/>
    <ds:schemaRef ds:uri="f8398484-59b7-43e4-8c3f-fec28fb3e8ed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E322CAC1-990E-4DE4-AA85-B969AC14F41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562</Words>
  <Application>Microsoft Office PowerPoint</Application>
  <PresentationFormat>On-screen Show (16:9)</PresentationFormat>
  <Paragraphs>72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Merriweather</vt:lpstr>
      <vt:lpstr>Arial</vt:lpstr>
      <vt:lpstr>Simple Light</vt:lpstr>
      <vt:lpstr>Simple Light</vt:lpstr>
      <vt:lpstr>ELT Briefing: Brand Rebuild  Messaging &amp; Positioning Strategy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Kristan Hill</dc:creator>
  <cp:lastModifiedBy>Kristan Hill</cp:lastModifiedBy>
  <cp:revision>1</cp:revision>
  <dcterms:modified xsi:type="dcterms:W3CDTF">2026-05-29T19:49:51Z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0x0101005F09B0DE38EA524F94BAE154DA29AE9F</vt:lpwstr>
  </property>
  <property fmtid="{D5CDD505-2E9C-101B-9397-08002B2CF9AE}" pid="3" name="MediaServiceImageTags">
    <vt:lpwstr/>
  </property>
</Properties>
</file>